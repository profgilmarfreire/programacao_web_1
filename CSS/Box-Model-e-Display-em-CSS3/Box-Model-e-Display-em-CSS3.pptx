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3120"/>
            <a:ext cx="71841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Box Model e Display em CSS3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97085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guia completo sobre os fundamentos do layout web moderno, explorando como elementos são estruturados e exibidos no navegador.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4844058"/>
            <a:ext cx="317540" cy="317540"/>
          </a:xfrm>
          <a:prstGeom prst="roundRect">
            <a:avLst>
              <a:gd name="adj" fmla="val 28793492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4851678"/>
            <a:ext cx="302300" cy="302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6908" y="4829175"/>
            <a:ext cx="465546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Professor Gilmar dos Santos Freire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885492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o Box Model?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Box Model é o conceito fundamental que define como cada elemento HTML é renderizado como uma caixa retangular no navegador. Compreender este modelo é essencial para criar layouts precisos e responsivos.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912507"/>
            <a:ext cx="6339007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elemento possui quatro áreas distintas: conteúdo, padding, border e margin. Estas camadas trabalham juntas para determinar o espaço total ocupado pelo elemento na página.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5537"/>
            <a:ext cx="57128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Anatomia do Box Model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52449"/>
            <a:ext cx="6422231" cy="1912858"/>
          </a:xfrm>
          <a:prstGeom prst="roundRect">
            <a:avLst>
              <a:gd name="adj" fmla="val 43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6584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3087648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conteúdo real do elemento - texto, imagens ou outros elementos aninhados.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99768" y="3841790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Propriedades: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452449"/>
            <a:ext cx="6422231" cy="1912858"/>
          </a:xfrm>
          <a:prstGeom prst="roundRect">
            <a:avLst>
              <a:gd name="adj" fmla="val 43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357" y="26584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Padding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0357" y="3087648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transparente entre o conteúdo e a borda do elemento.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20357" y="352425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Propriedades: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padding-top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padding-right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padding-bottom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padding-left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563666"/>
            <a:ext cx="6422231" cy="2230398"/>
          </a:xfrm>
          <a:prstGeom prst="roundRect">
            <a:avLst>
              <a:gd name="adj" fmla="val 37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68" y="4769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Border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9768" y="519886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linha que contorna o elemento, podendo ter diferentes estilos e espessuras.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99768" y="5953006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Propriedades: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border-width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border-style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border-color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563666"/>
            <a:ext cx="6422231" cy="2230398"/>
          </a:xfrm>
          <a:prstGeom prst="roundRect">
            <a:avLst>
              <a:gd name="adj" fmla="val 37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357" y="4769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Margin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20357" y="519886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transparente externo que separa o elemento de outros elementos adjacentes.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620357" y="5953006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Propriedades: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margin-top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margin-right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margin-bottom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margin-left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4733" y="764858"/>
            <a:ext cx="7187684" cy="537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Box-Sizing: Controlando o Cálculo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724733" y="1560790"/>
            <a:ext cx="7694533" cy="2865953"/>
          </a:xfrm>
          <a:prstGeom prst="roundRect">
            <a:avLst>
              <a:gd name="adj" fmla="val 252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9639" y="1755696"/>
            <a:ext cx="2248019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content-box (padrão)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9639" y="2127766"/>
            <a:ext cx="7304723" cy="55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Width e height aplicam-se apenas ao conteúdo. Padding e border são adicionados ao tamanho total.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19639" y="2872145"/>
            <a:ext cx="7304723" cy="1359694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911066" y="2872145"/>
            <a:ext cx="7321868" cy="1359694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083112" y="3001208"/>
            <a:ext cx="6977777" cy="110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box-sizing: content-box;width: 200px;padding: 20px;/* Largura total = 240px */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4733" y="4598789"/>
            <a:ext cx="7694533" cy="2865953"/>
          </a:xfrm>
          <a:prstGeom prst="roundRect">
            <a:avLst>
              <a:gd name="adj" fmla="val 252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9639" y="4793694"/>
            <a:ext cx="215157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border-box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19639" y="5165765"/>
            <a:ext cx="7304723" cy="55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Width e height incluem conteúdo, padding e border. Mais previsível para layouts responsivos.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19639" y="5910143"/>
            <a:ext cx="7304723" cy="1359694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911066" y="5910143"/>
            <a:ext cx="7321868" cy="1359694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1083112" y="6039207"/>
            <a:ext cx="6977777" cy="110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box-sizing: border-box;width: 200px;padding: 20px;/* Largura total = 200px */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86558"/>
            <a:ext cx="651307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de Dimensão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1026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Largura (Width)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67307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width: auto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Largura automática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06003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width: 300px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Valor absoluto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44698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width: 50%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Valor relativo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4833937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min-width: 200px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Largura mínima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538430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800px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Largura máxima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821674" y="31026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Altura (Height)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4821674" y="367307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auto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Altura automática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821674" y="406003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400px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Valor absoluto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821674" y="444698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100vh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Viewport height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821674" y="483393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min-height: 150px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Altura mínima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821674" y="522089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max-height: 600px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Altura máxima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6276"/>
            <a:ext cx="63187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Trabalhando com Padding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0318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padding cria espaço interno no elemento, sendo crucial para a legibilidade e estética. Pode ser definido individualmente para cada lado ou usando shorthand.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75836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207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Sintaxe Individual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3554135"/>
            <a:ext cx="6422231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3908" y="3554135"/>
            <a:ext cx="6441996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82266" y="3702963"/>
            <a:ext cx="604527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padding-top: 10px;padding-right: 15px;padding-bottom: 20px;padding-left: 25px;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2875836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414379" y="3020735"/>
            <a:ext cx="26264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Shorthand - 4 valores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414379" y="3554135"/>
            <a:ext cx="642223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4497" y="3554135"/>
            <a:ext cx="6441996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7602855" y="3702963"/>
            <a:ext cx="604527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top | right | bottom | left */padding: 10px 15px 20px 25px;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5783461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5928360"/>
            <a:ext cx="26149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Shorthand - 2 valores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93790" y="6461760"/>
            <a:ext cx="642223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83908" y="6461760"/>
            <a:ext cx="6441996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982266" y="6610588"/>
            <a:ext cx="604527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vertical | horizontal */padding: 20px 40px;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14379" y="5783461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7414379" y="59283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Shorthand - 1 valor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414379" y="6461760"/>
            <a:ext cx="642223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4497" y="6461760"/>
            <a:ext cx="6441996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7602855" y="6610588"/>
            <a:ext cx="604527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todos os lados iguais */padding: 15px;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7240"/>
            <a:ext cx="516636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Configurando Bordas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44152"/>
            <a:ext cx="13042821" cy="3758208"/>
          </a:xfrm>
          <a:prstGeom prst="roundRect">
            <a:avLst>
              <a:gd name="adj" fmla="val 22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5177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9887" y="2878455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Propriedade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911923" y="2878455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Possíveis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71541" y="2878455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322677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887" y="3449360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border-style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11923" y="3449360"/>
            <a:ext cx="415528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solid, dashed, dotted, double, groove, ridge, inset, outset, none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471541" y="3449360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border-style: solid;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421112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887" y="4337804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border-width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911923" y="4337804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thin, medium, thick, ou valores em px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471541" y="4337804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border-width: 2px;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4782026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9887" y="490870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border-color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11923" y="4908709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Nomes, hex, rgb, rgba, hsl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471541" y="4908709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border-color: #3498db;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352931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9887" y="547961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 (shorthand)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911923" y="5479613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width style color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71541" y="5479613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1px solid black;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923836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9887" y="6050518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border-radius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911923" y="6050518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em px, em, %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471541" y="6050518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border-radius: 10px;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538282"/>
            <a:ext cx="3821073" cy="45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Gerenciando Margins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78669" y="1286470"/>
            <a:ext cx="13073063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margins controlam o espaço externo entre elementos. Um conceito importante é o </a:t>
            </a:r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collapse</a:t>
            </a:r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onde margins verticais adjacentes se combinam.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69" y="1684139"/>
            <a:ext cx="729972" cy="1924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4612" y="1830110"/>
            <a:ext cx="1825109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Margin Collapse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54612" y="2145744"/>
            <a:ext cx="12197120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dois elementos verticais possuem margins, apenas a maior é aplicada, não a soma das duas.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54612" y="2543413"/>
            <a:ext cx="12197120" cy="919282"/>
          </a:xfrm>
          <a:prstGeom prst="roundRect">
            <a:avLst>
              <a:gd name="adj" fmla="val 6671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1647349" y="2543413"/>
            <a:ext cx="12211645" cy="919282"/>
          </a:xfrm>
          <a:prstGeom prst="roundRect">
            <a:avLst>
              <a:gd name="adj" fmla="val 2383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793319" y="2652832"/>
            <a:ext cx="11919704" cy="70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elemento1 { margin-bottom: 20px; }elemento2 { margin-top: 30px; }/* Espaço resultante: 30px (não 50px) */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69" y="3608665"/>
            <a:ext cx="729972" cy="21580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54612" y="3754636"/>
            <a:ext cx="2778800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Centralizando Horizontalmente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54612" y="4070271"/>
            <a:ext cx="12197120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0 auto</a:t>
            </a:r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centralizar elementos de bloco com largura definida.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654612" y="4467939"/>
            <a:ext cx="12197120" cy="1152763"/>
          </a:xfrm>
          <a:prstGeom prst="roundRect">
            <a:avLst>
              <a:gd name="adj" fmla="val 5320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1647349" y="4467939"/>
            <a:ext cx="12211645" cy="1152763"/>
          </a:xfrm>
          <a:prstGeom prst="roundRect">
            <a:avLst>
              <a:gd name="adj" fmla="val 1900"/>
            </a:avLst>
          </a:prstGeom>
          <a:solidFill>
            <a:srgbClr val="F2F2F2"/>
          </a:solidFill>
          <a:ln/>
        </p:spPr>
      </p:sp>
      <p:sp>
        <p:nvSpPr>
          <p:cNvPr id="15" name="Text 11"/>
          <p:cNvSpPr/>
          <p:nvPr/>
        </p:nvSpPr>
        <p:spPr>
          <a:xfrm>
            <a:off x="1793319" y="4577358"/>
            <a:ext cx="11919704" cy="93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 width: 800px;  margin: 0 auto;}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69" y="5766673"/>
            <a:ext cx="729972" cy="19245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54612" y="5912644"/>
            <a:ext cx="1825109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Valores Negativos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54612" y="6228278"/>
            <a:ext cx="12197120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Margins podem ter valores negativos, permitindo sobreposição e efeitos visuais únicos.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654612" y="6625947"/>
            <a:ext cx="12197120" cy="919282"/>
          </a:xfrm>
          <a:prstGeom prst="roundRect">
            <a:avLst>
              <a:gd name="adj" fmla="val 6671"/>
            </a:avLst>
          </a:prstGeom>
          <a:solidFill>
            <a:srgbClr val="F2F2F2"/>
          </a:solidFill>
          <a:ln/>
        </p:spPr>
      </p:sp>
      <p:sp>
        <p:nvSpPr>
          <p:cNvPr id="20" name="Shape 15"/>
          <p:cNvSpPr/>
          <p:nvPr/>
        </p:nvSpPr>
        <p:spPr>
          <a:xfrm>
            <a:off x="1647349" y="6625947"/>
            <a:ext cx="12211645" cy="919282"/>
          </a:xfrm>
          <a:prstGeom prst="roundRect">
            <a:avLst>
              <a:gd name="adj" fmla="val 2383"/>
            </a:avLst>
          </a:prstGeom>
          <a:solidFill>
            <a:srgbClr val="F2F2F2"/>
          </a:solidFill>
          <a:ln/>
        </p:spPr>
      </p:sp>
      <p:sp>
        <p:nvSpPr>
          <p:cNvPr id="21" name="Text 16"/>
          <p:cNvSpPr/>
          <p:nvPr/>
        </p:nvSpPr>
        <p:spPr>
          <a:xfrm>
            <a:off x="1793319" y="6735366"/>
            <a:ext cx="11919704" cy="70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.overlap { margin-top: -20px;}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49685"/>
            <a:ext cx="80431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Introdução à Propriedade Display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506741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propriedade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como um elemento é renderizado e como interage com outros elementos. É fundamental para controlar o layout e o fluxo de elementos na página.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92574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elemento HTML possui um valor de display padrão (block ou inline), mas podemos alterá-lo para criar layouts mais complexos e flexíveis.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2193"/>
            <a:ext cx="53921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 Block vs Inline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69106"/>
            <a:ext cx="6422231" cy="4508302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369106"/>
            <a:ext cx="91440" cy="4508302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5903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display: block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019544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Elementos ocupam toda a largura disponível e quebram linha.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83588" y="3456146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 propriedades de width/height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83588" y="384309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 em nova linha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83588" y="423005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Exemplos: div, h1-h6, p, section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83588" y="4770834"/>
            <a:ext cx="5911215" cy="1885355"/>
          </a:xfrm>
          <a:prstGeom prst="roundRect">
            <a:avLst>
              <a:gd name="adj" fmla="val 4421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1073706" y="4770834"/>
            <a:ext cx="5930979" cy="18853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272064" y="4919663"/>
            <a:ext cx="553426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.bloco {  display: block;  width: 100%;  height: 50px;}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4379" y="2369106"/>
            <a:ext cx="6422231" cy="4508302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1519" y="2369106"/>
            <a:ext cx="91440" cy="4508302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7704177" y="25903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display: inline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704177" y="301954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Elementos fluem horizontalmente, lado a lado, respeitando o fluxo do texto.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704177" y="3773686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Ignora propriedades width/height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04177" y="416063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quebra linha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704177" y="4547592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Exemplos: span, a, strong, em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704177" y="5088374"/>
            <a:ext cx="5911215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7694295" y="5088374"/>
            <a:ext cx="5930979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7892653" y="5237202"/>
            <a:ext cx="553426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.inline { display: inline; /* width/height ignorados */}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76" y="340876"/>
            <a:ext cx="3109436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Display: Inline-Block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5776" y="1025604"/>
            <a:ext cx="6668214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inline-block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combina características de elementos block e inline, oferecendo flexibilidade única para layouts.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5776" y="1546027"/>
            <a:ext cx="1549598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5776" y="1863685"/>
            <a:ext cx="666821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Flui horizontalmente como inline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5776" y="2105263"/>
            <a:ext cx="666821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 width/height como block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5776" y="2346841"/>
            <a:ext cx="666821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botões e cards lado a lado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5776" y="2588419"/>
            <a:ext cx="666821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Mantém espaçamento natural entre elementos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4029" y="1053465"/>
            <a:ext cx="6668214" cy="666821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74029" y="7861102"/>
            <a:ext cx="6668214" cy="1573411"/>
          </a:xfrm>
          <a:prstGeom prst="roundRect">
            <a:avLst>
              <a:gd name="adj" fmla="val 3309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7467838" y="7861102"/>
            <a:ext cx="6680597" cy="1573411"/>
          </a:xfrm>
          <a:prstGeom prst="roundRect">
            <a:avLst>
              <a:gd name="adj" fmla="val 1182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7591782" y="7953970"/>
            <a:ext cx="6432709" cy="138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display: inline-block; width: 200px; height: 150px; margin: 10px; vertical-align: top;}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8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526" y="537329"/>
            <a:ext cx="5892760" cy="58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Display: None vs Visibility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781526" y="1395770"/>
            <a:ext cx="7580948" cy="3056573"/>
          </a:xfrm>
          <a:prstGeom prst="roundRect">
            <a:avLst>
              <a:gd name="adj" fmla="val 25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4765" y="1589008"/>
            <a:ext cx="2320290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display: none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74765" y="1990368"/>
            <a:ext cx="7194471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completamente o elemento do fluxo da página. O elemento não ocupa espaço e não é renderizado.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74765" y="2792968"/>
            <a:ext cx="7194471" cy="1466136"/>
          </a:xfrm>
          <a:prstGeom prst="roundRect">
            <a:avLst>
              <a:gd name="adj" fmla="val 5318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965597" y="2792968"/>
            <a:ext cx="7212806" cy="1466136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151215" y="2932152"/>
            <a:ext cx="6841569" cy="118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.oculto {  display: none;  /* Elemento inexiste visualmente */}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81526" y="4637961"/>
            <a:ext cx="7580948" cy="3056573"/>
          </a:xfrm>
          <a:prstGeom prst="roundRect">
            <a:avLst>
              <a:gd name="adj" fmla="val 25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4765" y="4831199"/>
            <a:ext cx="2320290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visibility: hidden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4765" y="5232559"/>
            <a:ext cx="7194471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Torna o elemento invisível mas mantém seu espaço no layout. O elemento ainda influencia o posicionamento de outros elementos.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74765" y="6035159"/>
            <a:ext cx="7194471" cy="1466136"/>
          </a:xfrm>
          <a:prstGeom prst="roundRect">
            <a:avLst>
              <a:gd name="adj" fmla="val 5318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965597" y="6035159"/>
            <a:ext cx="7212806" cy="1466136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1151215" y="6174343"/>
            <a:ext cx="6841569" cy="118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.invisivel { visibility: hidden; /* Espaço preservado */}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4709"/>
            <a:ext cx="70595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Valores Modernos de Display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01622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26193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display: flex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048595"/>
            <a:ext cx="343804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 um contêiner flexível para alinhamento e distribuição dinâmica de elementos filhos. Ideal para layouts unidimensionais (linha ou coluna).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1537930" y="4859536"/>
            <a:ext cx="3438049" cy="1885355"/>
          </a:xfrm>
          <a:prstGeom prst="roundRect">
            <a:avLst>
              <a:gd name="adj" fmla="val 4421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1528048" y="4859536"/>
            <a:ext cx="3457813" cy="18853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1726406" y="5008364"/>
            <a:ext cx="306109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.flex-container {  display: flex;  justify-content: space-between;  align-items: center;}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2501622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68127" y="26193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display: grid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968127" y="3048595"/>
            <a:ext cx="34381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Estabelece um sistema de grid bidimensional com controle preciso sobre linhas e colunas. Perfeito para layouts complexos.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968127" y="4541996"/>
            <a:ext cx="3438168" cy="1885355"/>
          </a:xfrm>
          <a:prstGeom prst="roundRect">
            <a:avLst>
              <a:gd name="adj" fmla="val 4421"/>
            </a:avLst>
          </a:prstGeom>
          <a:solidFill>
            <a:srgbClr val="F2F2F2"/>
          </a:solidFill>
          <a:ln/>
        </p:spPr>
      </p:sp>
      <p:sp>
        <p:nvSpPr>
          <p:cNvPr id="13" name="Shape 9"/>
          <p:cNvSpPr/>
          <p:nvPr/>
        </p:nvSpPr>
        <p:spPr>
          <a:xfrm>
            <a:off x="5958245" y="4541996"/>
            <a:ext cx="3457932" cy="18853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6156603" y="4690824"/>
            <a:ext cx="306121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.grid-container {  display: grid;  grid-template-columns: 1fr 2fr;  gap: 20px;}</a:t>
            </a:r>
            <a:endParaRPr lang="en-US" sz="15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2501622"/>
            <a:ext cx="496133" cy="49613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98443" y="26193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display: table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0398443" y="3048595"/>
            <a:ext cx="34381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 elementos se comportarem como tabelas HTML, útil para alinhamento vertical e layouts tabulares sem usar table tags.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10398443" y="4541996"/>
            <a:ext cx="3438168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9" name="Shape 14"/>
          <p:cNvSpPr/>
          <p:nvPr/>
        </p:nvSpPr>
        <p:spPr>
          <a:xfrm>
            <a:off x="10388560" y="4541996"/>
            <a:ext cx="3457932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20" name="Text 15"/>
          <p:cNvSpPr/>
          <p:nvPr/>
        </p:nvSpPr>
        <p:spPr>
          <a:xfrm>
            <a:off x="10586918" y="4690824"/>
            <a:ext cx="306121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.table-layout { display: table; width: 100%;}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984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3773"/>
            <a:ext cx="521100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Casos Práticos e Exemplos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3298031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ver exemplos práticos de como combinar Box Model e Display para criar layouts eficientes.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93790" y="4206954"/>
            <a:ext cx="4241721" cy="158710"/>
          </a:xfrm>
          <a:prstGeom prst="roundRect">
            <a:avLst>
              <a:gd name="adj" fmla="val 420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2500" y="452437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 Component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952500" y="4950976"/>
            <a:ext cx="3924300" cy="2524839"/>
          </a:xfrm>
          <a:prstGeom prst="roundRect">
            <a:avLst>
              <a:gd name="adj" fmla="val 2641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944642" y="4950976"/>
            <a:ext cx="3940016" cy="2524839"/>
          </a:xfrm>
          <a:prstGeom prst="roundRect">
            <a:avLst>
              <a:gd name="adj" fmla="val 943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103352" y="5070038"/>
            <a:ext cx="3622596" cy="2286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 display: inline-block;  width: 300px;  padding: 20px;  margin: 15px;  border: 1px solid #ddd;  border-radius: 8px;  box-sizing: border-box;}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94221" y="3968829"/>
            <a:ext cx="4241840" cy="158710"/>
          </a:xfrm>
          <a:prstGeom prst="roundRect">
            <a:avLst>
              <a:gd name="adj" fmla="val 420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52931" y="428625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Navigation Bar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352931" y="4712851"/>
            <a:ext cx="3924419" cy="2778919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5345073" y="4712851"/>
            <a:ext cx="3940135" cy="2778919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5503783" y="4831913"/>
            <a:ext cx="3622715" cy="25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.nav {  display: flex;  padding: 0 20px;  border-bottom: 2px solid #333;}.nav-item {  display: block;  padding: 15px 20px;  margin-right: 10px;}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594771" y="3730704"/>
            <a:ext cx="4241721" cy="158710"/>
          </a:xfrm>
          <a:prstGeom prst="roundRect">
            <a:avLst>
              <a:gd name="adj" fmla="val 420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53481" y="4048125"/>
            <a:ext cx="212955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Responsive Container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9753481" y="4474726"/>
            <a:ext cx="3924300" cy="2524839"/>
          </a:xfrm>
          <a:prstGeom prst="roundRect">
            <a:avLst>
              <a:gd name="adj" fmla="val 2641"/>
            </a:avLst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9745623" y="4474726"/>
            <a:ext cx="3940016" cy="2524839"/>
          </a:xfrm>
          <a:prstGeom prst="roundRect">
            <a:avLst>
              <a:gd name="adj" fmla="val 943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9904333" y="4593788"/>
            <a:ext cx="3622596" cy="2286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max-width: 1200px; margin: 0 auto; padding: 0 20px; box-sizing: border-box;}@media (max-width: 768px) { .container { padding: 0 10px; }}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3450"/>
            <a:ext cx="66111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Resumo e Próximos Passos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00363"/>
            <a:ext cx="4215289" cy="2905006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768" y="31063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479" y="3236476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3900011"/>
            <a:ext cx="25586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Box Model Dominado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4329232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Content, padding, border e margin trabalham juntos. Use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box-sizing: border-box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cálculos previsíveis.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900363"/>
            <a:ext cx="4215408" cy="2905006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13415" y="31063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126" y="3236476"/>
            <a:ext cx="267891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3415" y="3900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 Flexível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13415" y="4329232"/>
            <a:ext cx="38034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Block, inline, inline-block, flex e grid oferecem controle total sobre o layout dos elementos.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900363"/>
            <a:ext cx="4215289" cy="2905006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27181" y="31063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892" y="3236476"/>
            <a:ext cx="267891" cy="3349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7181" y="3900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Estudos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27181" y="4329232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Aprofunde-se em Flexbox e CSS Grid para layouts avançados. Pratique com projetos reais para consolidar o conhecimento.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93790" y="602861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Domine estes fundamentos e você terá a base sólida necessária para criar qualquer layout web moderno e responsivo!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2025-09-17T23:31:42Z</dcterms:created>
  <dcterms:modified xsi:type="dcterms:W3CDTF">2025-09-17T23:31:42Z</dcterms:modified>
</cp:coreProperties>
</file>